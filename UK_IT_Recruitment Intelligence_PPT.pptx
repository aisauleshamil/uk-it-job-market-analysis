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CE-4769-AEE7-3594933C97B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CE-4769-AEE7-3594933C97B1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CE-4769-AEE7-3594933C97B1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CE-4769-AEE7-3594933C97B1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CE-4769-AEE7-3594933C97B1}"/>
              </c:ext>
            </c:extLst>
          </c:dPt>
          <c:dPt>
            <c:idx val="5"/>
            <c:invertIfNegative val="0"/>
            <c:bubble3D val="0"/>
            <c:spPr>
              <a:solidFill>
                <a:srgbClr val="3D5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CE-4769-AEE7-3594933C97B1}"/>
              </c:ext>
            </c:extLst>
          </c:dPt>
          <c:dPt>
            <c:idx val="6"/>
            <c:invertIfNegative val="0"/>
            <c:bubble3D val="0"/>
            <c:spPr>
              <a:solidFill>
                <a:srgbClr val="3D5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0CE-4769-AEE7-3594933C97B1}"/>
              </c:ext>
            </c:extLst>
          </c:dPt>
          <c:dPt>
            <c:idx val="7"/>
            <c:invertIfNegative val="0"/>
            <c:bubble3D val="0"/>
            <c:spPr>
              <a:solidFill>
                <a:srgbClr val="F9B2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0CE-4769-AEE7-3594933C97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QA / Testing</c:v>
                </c:pt>
                <c:pt idx="1">
                  <c:v>ERP / SAP</c:v>
                </c:pt>
                <c:pt idx="2">
                  <c:v>Network / IT Ops</c:v>
                </c:pt>
                <c:pt idx="3">
                  <c:v>Cloud / DevOps</c:v>
                </c:pt>
                <c:pt idx="4">
                  <c:v>Cybersecurity</c:v>
                </c:pt>
                <c:pt idx="5">
                  <c:v>Data &amp; AI</c:v>
                </c:pt>
                <c:pt idx="6">
                  <c:v>Software Eng</c:v>
                </c:pt>
                <c:pt idx="7">
                  <c:v>Management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</c:v>
                </c:pt>
                <c:pt idx="1">
                  <c:v>72</c:v>
                </c:pt>
                <c:pt idx="2">
                  <c:v>113</c:v>
                </c:pt>
                <c:pt idx="3">
                  <c:v>146</c:v>
                </c:pt>
                <c:pt idx="4">
                  <c:v>151</c:v>
                </c:pt>
                <c:pt idx="5">
                  <c:v>219</c:v>
                </c:pt>
                <c:pt idx="6">
                  <c:v>362</c:v>
                </c:pt>
                <c:pt idx="7">
                  <c:v>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0CE-4769-AEE7-3594933C97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D5A9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500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5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72-4603-ACDE-172EF83C6878}"/>
              </c:ext>
            </c:extLst>
          </c:dPt>
          <c:dPt>
            <c:idx val="1"/>
            <c:bubble3D val="0"/>
            <c:spPr>
              <a:solidFill>
                <a:srgbClr val="F9B2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72-4603-ACDE-172EF83C6878}"/>
              </c:ext>
            </c:extLst>
          </c:dPt>
          <c:dPt>
            <c:idx val="2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72-4603-ACDE-172EF83C68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72-4603-ACDE-172EF83C68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72-4603-ACDE-172EF83C687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72-4603-ACDE-172EF83C68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Mid-Level</c:v>
                </c:pt>
                <c:pt idx="1">
                  <c:v>Senior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2011</c:v>
                </c:pt>
                <c:pt idx="1">
                  <c:v>784</c:v>
                </c:pt>
                <c:pt idx="2">
                  <c:v>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72-4603-ACDE-172EF83C6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59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4440" y="1798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UK IT Recruitment Intelligence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07920" y="257175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Wrangling Transforms Raw Job Listings into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for UK Recruitment Agencies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3394710"/>
            <a:ext cx="952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Aisaule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Shamil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60320" y="182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Analysis?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UK-based IT Recruitment Agency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recruitment agencies operate in a high-velocity market: hundreds of new listings appear daily and disappear within days. Consultants need structured, reliable intelligence to advise candidates on salary expectations, identify high-demand roles, and target the right clients at the right time.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clean data, agencies rely on instinct: a costly disadvantage in a data-rich industry.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66360" y="1453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Industry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66360" y="1728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Staffing &amp; Recruitment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1706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(all regions)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255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Data Source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2503933"/>
            <a:ext cx="166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 Job Listings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13320" y="225399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Listings Analysed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13320" y="2497837"/>
            <a:ext cx="1539240" cy="199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2,981 IT job postings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85900" y="71399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Recruitment Agencies 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68730" y="1232154"/>
            <a:ext cx="6515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structured market data, consultants cannot answer three critical questions accurately: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9278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raw, unstructured job postings across 14 regions: duplicates, missing fields, and inconsistent titles make manual analysis impossible at scale.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661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Uncertainty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0878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listed salaries are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-predicted, not employer-stated. Consultants quoting uncleaned salary data risk losing both candidates and clients.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1905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Map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034541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are booming? Which regions have the most demand? Without standardized job categories and location data, agencies cannot prioritize consultant focus areas.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27760" y="240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Data to Business-Ready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17 duplicate listing IDs: same job counted once. Reliable demand count is the foundation of every insight.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6576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30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Correction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20 implausible salary_min values (&lt;£1,000) using regex extraction from description text. Capped outliers via IQR winsorisation.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" y="260604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6576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7980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Parsing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449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location.area from string-formatted lists into separate country and region columns, enabling region-level market analysis.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" y="3273552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365760" y="34655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65760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Normalisation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124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seniority prefixes, location noise, and casing inconsistencies. 2,369 raw titles -&gt; 2,135 normalized -&gt; 9 business categories.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" y="3941064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36576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Enrichment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799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500 fresh listings via Adzuna API (26 Apr 2026), added 498 unique new records, keeping the dataset current for live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74620" y="2971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Demand?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59280" y="83896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listings by category after cleaning and normalising 2,981 UK IT postings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783080"/>
          <a:ext cx="56692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46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Category</a:t>
            </a:r>
            <a:endParaRPr lang="en-US" sz="1100" dirty="0">
              <a:solidFill>
                <a:srgbClr val="F9B233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46520" y="2059305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2200" dirty="0">
              <a:solidFill>
                <a:srgbClr val="F9B233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46520" y="2360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active listings</a:t>
            </a:r>
            <a:endParaRPr lang="en-US" sz="1100" dirty="0">
              <a:solidFill>
                <a:srgbClr val="F9B233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4465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Demand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44652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leads at 362 listings: highest among pure technical roles, ahead of Data &amp; AI (219) and Cloud/DevOps (146).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88820" y="1173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Seniority Gap &amp; Salary Benchmarks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8016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2" y="1151382"/>
            <a:ext cx="30632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67% of all IT job demand is Mid-Level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118338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UK IT market is not primarily hiring juniors or seniors, it wants experienced professionals aged 3–7 years in their roles.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35782" y="173659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Benchmarks by Category (Cleaned Data)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733647"/>
              </p:ext>
            </p:extLst>
          </p:nvPr>
        </p:nvGraphicFramePr>
        <p:xfrm>
          <a:off x="4335782" y="2153030"/>
          <a:ext cx="4572000" cy="18653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(£)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(£)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DevOps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0D92CA-6D86-ED1C-EE99-9F1C8B4B34A1}"/>
              </a:ext>
            </a:extLst>
          </p:cNvPr>
          <p:cNvCxnSpPr>
            <a:cxnSpLocks/>
          </p:cNvCxnSpPr>
          <p:nvPr/>
        </p:nvCxnSpPr>
        <p:spPr>
          <a:xfrm>
            <a:off x="3886200" y="1325118"/>
            <a:ext cx="548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24940" y="155448"/>
            <a:ext cx="641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Recruitment Agency Should Do Next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 Consultants by Top-Demand Category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(362) and Management (510) represent 29% of all cleaned listings. Assign dedicated consultants to these verticals with pre-built candidate pipelines. Reduce time-to-placement by eliminating cross-category context switching.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Verified Salary Ranges and Not Predicted 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6151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Adzuna salary data is algorithmically predicted. Build a client-facing salary guide using only the salary_is_predicted = False subset. This differentiates the agency as a trusted, evidence-based partner in candidate salary negotiations.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Expansion: Target Mid-England &amp; Scotland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8176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London dominates, cleaned location data reveals significant volume in Yorkshire, North West England, and Scotland. These regions are under-served by specialist IT recruiters, which is a first-mover opportunity to capture market share outside the capital.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Wrangling Project Business Application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Aisaule Shamil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S1W44H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657</Words>
  <Application>Microsoft Office PowerPoint</Application>
  <PresentationFormat>On-screen Show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IT Job Market Intelligence</dc:title>
  <dc:subject>PptxGenJS Presentation</dc:subject>
  <dc:creator>PptxGenJS</dc:creator>
  <cp:lastModifiedBy>Студент Актау</cp:lastModifiedBy>
  <cp:revision>3</cp:revision>
  <dcterms:created xsi:type="dcterms:W3CDTF">2026-05-11T14:07:39Z</dcterms:created>
  <dcterms:modified xsi:type="dcterms:W3CDTF">2026-09-07T19:41:37Z</dcterms:modified>
</cp:coreProperties>
</file>